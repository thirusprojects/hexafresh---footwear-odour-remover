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Klein Bold" charset="1" panose="02000503060000020004"/>
      <p:regular r:id="rId24"/>
    </p:embeddedFont>
    <p:embeddedFont>
      <p:font typeface="Helios" charset="1" panose="020B0504020202020204"/>
      <p:regular r:id="rId25"/>
    </p:embeddedFont>
    <p:embeddedFont>
      <p:font typeface="Helios Bold" charset="1" panose="020B0704020202020204"/>
      <p:regular r:id="rId26"/>
    </p:embeddedFont>
    <p:embeddedFont>
      <p:font typeface="Klein" charset="1" panose="02000503060000020004"/>
      <p:regular r:id="rId27"/>
    </p:embeddedFont>
    <p:embeddedFont>
      <p:font typeface="Canva Sans" charset="1" panose="020B0503030501040103"/>
      <p:regular r:id="rId28"/>
    </p:embeddedFont>
    <p:embeddedFont>
      <p:font typeface="Canva Sans Bold" charset="1" panose="020B0803030501040103"/>
      <p:regular r:id="rId29"/>
    </p:embeddedFont>
    <p:embeddedFont>
      <p:font typeface="League Spartan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2962881"/>
            <a:ext cx="8115300" cy="4361239"/>
            <a:chOff x="0" y="0"/>
            <a:chExt cx="10820400" cy="581498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0820400" cy="4851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99"/>
                </a:lnSpc>
              </a:pPr>
              <a:r>
                <a:rPr lang="en-US" sz="11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Hexa </a:t>
              </a:r>
              <a:r>
                <a:rPr lang="en-US" sz="11999" b="tru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Fresh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107383"/>
              <a:ext cx="10498974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Footwear Odour Remover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3773114"/>
            <a:chOff x="0" y="0"/>
            <a:chExt cx="24384000" cy="503081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27933" r="0" b="41099"/>
            <a:stretch>
              <a:fillRect/>
            </a:stretch>
          </p:blipFill>
          <p:spPr>
            <a:xfrm flipH="false" flipV="false"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3773114"/>
            <a:ext cx="18288000" cy="6513886"/>
            <a:chOff x="0" y="0"/>
            <a:chExt cx="4816593" cy="17155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715591"/>
            </a:xfrm>
            <a:custGeom>
              <a:avLst/>
              <a:gdLst/>
              <a:ahLst/>
              <a:cxnLst/>
              <a:rect r="r" b="b" t="t" l="l"/>
              <a:pathLst>
                <a:path h="1715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16593" cy="1772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035380" y="4645343"/>
          <a:ext cx="6604347" cy="4157105"/>
        </p:xfrm>
        <a:graphic>
          <a:graphicData uri="http://schemas.openxmlformats.org/drawingml/2006/table">
            <a:tbl>
              <a:tblPr/>
              <a:tblGrid>
                <a:gridCol w="6604347"/>
              </a:tblGrid>
              <a:tr h="8276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Product Description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Aesthetic Considerations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Design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Optimization Techniques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Sidal’s Classification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647029" y="4645343"/>
          <a:ext cx="6604347" cy="4157105"/>
        </p:xfrm>
        <a:graphic>
          <a:graphicData uri="http://schemas.openxmlformats.org/drawingml/2006/table">
            <a:tbl>
              <a:tblPr/>
              <a:tblGrid>
                <a:gridCol w="6604347"/>
              </a:tblGrid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Money Flow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Value Engineering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Economic Factors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Steps For Cost Reduction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6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Team Contribution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639504" y="1391465"/>
            <a:ext cx="9008992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CONTENTS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333203" y="-1109791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19285" y="3776179"/>
            <a:ext cx="4640015" cy="6293807"/>
          </a:xfrm>
          <a:custGeom>
            <a:avLst/>
            <a:gdLst/>
            <a:ahLst/>
            <a:cxnLst/>
            <a:rect r="r" b="b" t="t" l="l"/>
            <a:pathLst>
              <a:path h="6293807" w="4640015">
                <a:moveTo>
                  <a:pt x="0" y="0"/>
                </a:moveTo>
                <a:lnTo>
                  <a:pt x="4640015" y="0"/>
                </a:lnTo>
                <a:lnTo>
                  <a:pt x="4640015" y="6293807"/>
                </a:lnTo>
                <a:lnTo>
                  <a:pt x="0" y="629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456" t="-29713" r="-18851" b="-160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0912"/>
            <a:ext cx="120635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About HexaFresh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5981" y="3955093"/>
            <a:ext cx="10284106" cy="589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HexaFresh is a compact shoe odour removal device designed for everyday hygiene. Powered by a 80mm cooler fan, it ensures continuous airflow inside a dedicated chamber to eliminate moisture and odour-causing bacteria. Lightweight, energy-efficient, and user-friendly, HexaFresh keeps footwear fresh and provides a convenient solution for athletes, professionals, and daily users alike.​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0164" y="-1338869"/>
            <a:ext cx="19274575" cy="3803384"/>
          </a:xfrm>
          <a:custGeom>
            <a:avLst/>
            <a:gdLst/>
            <a:ahLst/>
            <a:cxnLst/>
            <a:rect r="r" b="b" t="t" l="l"/>
            <a:pathLst>
              <a:path h="3803384" w="19274575">
                <a:moveTo>
                  <a:pt x="0" y="0"/>
                </a:moveTo>
                <a:lnTo>
                  <a:pt x="19274575" y="0"/>
                </a:lnTo>
                <a:lnTo>
                  <a:pt x="19274575" y="3803384"/>
                </a:lnTo>
                <a:lnTo>
                  <a:pt x="0" y="380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30984" y="2858172"/>
            <a:ext cx="6594664" cy="6982585"/>
          </a:xfrm>
          <a:custGeom>
            <a:avLst/>
            <a:gdLst/>
            <a:ahLst/>
            <a:cxnLst/>
            <a:rect r="r" b="b" t="t" l="l"/>
            <a:pathLst>
              <a:path h="6982585" w="6594664">
                <a:moveTo>
                  <a:pt x="0" y="0"/>
                </a:moveTo>
                <a:lnTo>
                  <a:pt x="6594663" y="0"/>
                </a:lnTo>
                <a:lnTo>
                  <a:pt x="6594663" y="6982585"/>
                </a:lnTo>
                <a:lnTo>
                  <a:pt x="0" y="6982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2950" y="665162"/>
            <a:ext cx="120635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PRODUCT DESCRIPTION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2950" y="3129107"/>
            <a:ext cx="9681697" cy="695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3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⁠Hexagon-shape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ular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sing</a:t>
            </a: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  <a:r>
              <a:rPr lang="en-US" b="true" sz="330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Compartment 1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Charcoal pouch for odour removal</a:t>
            </a: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  <a:r>
              <a:rPr lang="en-US" b="true" sz="330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</a:t>
            </a:r>
            <a:r>
              <a:rPr lang="en-US" b="true" sz="330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330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</a:t>
            </a:r>
            <a:r>
              <a:rPr lang="en-US" b="true" sz="330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330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2: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Electronics: 80mm cooler fan, 12–10 PWM regulator, 3mm green LED DIP, switch, Type-C module, wiring</a:t>
            </a: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Airflow = 15CFM</a:t>
            </a: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Airflow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hrough m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 (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30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op, middle, end)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96844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9558" y="2999422"/>
            <a:ext cx="1276011" cy="1276011"/>
            <a:chOff x="0" y="0"/>
            <a:chExt cx="1701348" cy="17013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1348" cy="1701348"/>
            </a:xfrm>
            <a:custGeom>
              <a:avLst/>
              <a:gdLst/>
              <a:ahLst/>
              <a:cxnLst/>
              <a:rect r="r" b="b" t="t" l="l"/>
              <a:pathLst>
                <a:path h="1701348" w="1701348">
                  <a:moveTo>
                    <a:pt x="0" y="0"/>
                  </a:moveTo>
                  <a:lnTo>
                    <a:pt x="1701348" y="0"/>
                  </a:lnTo>
                  <a:lnTo>
                    <a:pt x="1701348" y="1701348"/>
                  </a:lnTo>
                  <a:lnTo>
                    <a:pt x="0" y="170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6673" y="176673"/>
              <a:ext cx="1348002" cy="1348002"/>
            </a:xfrm>
            <a:custGeom>
              <a:avLst/>
              <a:gdLst/>
              <a:ahLst/>
              <a:cxnLst/>
              <a:rect r="r" b="b" t="t" l="l"/>
              <a:pathLst>
                <a:path h="1348002" w="1348002">
                  <a:moveTo>
                    <a:pt x="0" y="0"/>
                  </a:moveTo>
                  <a:lnTo>
                    <a:pt x="1348002" y="0"/>
                  </a:lnTo>
                  <a:lnTo>
                    <a:pt x="1348002" y="1348002"/>
                  </a:lnTo>
                  <a:lnTo>
                    <a:pt x="0" y="1348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1902" y="499915"/>
              <a:ext cx="377544" cy="701517"/>
            </a:xfrm>
            <a:custGeom>
              <a:avLst/>
              <a:gdLst/>
              <a:ahLst/>
              <a:cxnLst/>
              <a:rect r="r" b="b" t="t" l="l"/>
              <a:pathLst>
                <a:path h="701517" w="377544">
                  <a:moveTo>
                    <a:pt x="0" y="0"/>
                  </a:moveTo>
                  <a:lnTo>
                    <a:pt x="377544" y="0"/>
                  </a:lnTo>
                  <a:lnTo>
                    <a:pt x="377544" y="701517"/>
                  </a:lnTo>
                  <a:lnTo>
                    <a:pt x="0" y="701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99558" y="4509560"/>
            <a:ext cx="1276011" cy="1276011"/>
            <a:chOff x="0" y="0"/>
            <a:chExt cx="1701348" cy="17013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1348" cy="1701348"/>
            </a:xfrm>
            <a:custGeom>
              <a:avLst/>
              <a:gdLst/>
              <a:ahLst/>
              <a:cxnLst/>
              <a:rect r="r" b="b" t="t" l="l"/>
              <a:pathLst>
                <a:path h="1701348" w="1701348">
                  <a:moveTo>
                    <a:pt x="0" y="0"/>
                  </a:moveTo>
                  <a:lnTo>
                    <a:pt x="1701348" y="0"/>
                  </a:lnTo>
                  <a:lnTo>
                    <a:pt x="1701348" y="1701348"/>
                  </a:lnTo>
                  <a:lnTo>
                    <a:pt x="0" y="170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76673" y="176673"/>
              <a:ext cx="1348002" cy="1348002"/>
            </a:xfrm>
            <a:custGeom>
              <a:avLst/>
              <a:gdLst/>
              <a:ahLst/>
              <a:cxnLst/>
              <a:rect r="r" b="b" t="t" l="l"/>
              <a:pathLst>
                <a:path h="1348002" w="1348002">
                  <a:moveTo>
                    <a:pt x="0" y="0"/>
                  </a:moveTo>
                  <a:lnTo>
                    <a:pt x="1348002" y="0"/>
                  </a:lnTo>
                  <a:lnTo>
                    <a:pt x="1348002" y="1348002"/>
                  </a:lnTo>
                  <a:lnTo>
                    <a:pt x="0" y="1348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29501" y="477217"/>
              <a:ext cx="642345" cy="746913"/>
            </a:xfrm>
            <a:custGeom>
              <a:avLst/>
              <a:gdLst/>
              <a:ahLst/>
              <a:cxnLst/>
              <a:rect r="r" b="b" t="t" l="l"/>
              <a:pathLst>
                <a:path h="746913" w="642345">
                  <a:moveTo>
                    <a:pt x="0" y="0"/>
                  </a:moveTo>
                  <a:lnTo>
                    <a:pt x="642345" y="0"/>
                  </a:lnTo>
                  <a:lnTo>
                    <a:pt x="642345" y="746913"/>
                  </a:lnTo>
                  <a:lnTo>
                    <a:pt x="0" y="746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9558" y="6019699"/>
            <a:ext cx="1276011" cy="1276011"/>
            <a:chOff x="0" y="0"/>
            <a:chExt cx="1701348" cy="17013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1348" cy="1701348"/>
            </a:xfrm>
            <a:custGeom>
              <a:avLst/>
              <a:gdLst/>
              <a:ahLst/>
              <a:cxnLst/>
              <a:rect r="r" b="b" t="t" l="l"/>
              <a:pathLst>
                <a:path h="1701348" w="1701348">
                  <a:moveTo>
                    <a:pt x="0" y="0"/>
                  </a:moveTo>
                  <a:lnTo>
                    <a:pt x="1701348" y="0"/>
                  </a:lnTo>
                  <a:lnTo>
                    <a:pt x="1701348" y="1701348"/>
                  </a:lnTo>
                  <a:lnTo>
                    <a:pt x="0" y="170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76673" y="176673"/>
              <a:ext cx="1348002" cy="1348002"/>
            </a:xfrm>
            <a:custGeom>
              <a:avLst/>
              <a:gdLst/>
              <a:ahLst/>
              <a:cxnLst/>
              <a:rect r="r" b="b" t="t" l="l"/>
              <a:pathLst>
                <a:path h="1348002" w="1348002">
                  <a:moveTo>
                    <a:pt x="0" y="0"/>
                  </a:moveTo>
                  <a:lnTo>
                    <a:pt x="1348002" y="0"/>
                  </a:lnTo>
                  <a:lnTo>
                    <a:pt x="1348002" y="1348002"/>
                  </a:lnTo>
                  <a:lnTo>
                    <a:pt x="0" y="1348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9008" y="477217"/>
              <a:ext cx="632839" cy="746913"/>
            </a:xfrm>
            <a:custGeom>
              <a:avLst/>
              <a:gdLst/>
              <a:ahLst/>
              <a:cxnLst/>
              <a:rect r="r" b="b" t="t" l="l"/>
              <a:pathLst>
                <a:path h="746913" w="632839">
                  <a:moveTo>
                    <a:pt x="0" y="0"/>
                  </a:moveTo>
                  <a:lnTo>
                    <a:pt x="632838" y="0"/>
                  </a:lnTo>
                  <a:lnTo>
                    <a:pt x="632838" y="746913"/>
                  </a:lnTo>
                  <a:lnTo>
                    <a:pt x="0" y="746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9558" y="7529837"/>
            <a:ext cx="1276011" cy="1276011"/>
            <a:chOff x="0" y="0"/>
            <a:chExt cx="1701348" cy="17013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1348" cy="1701348"/>
            </a:xfrm>
            <a:custGeom>
              <a:avLst/>
              <a:gdLst/>
              <a:ahLst/>
              <a:cxnLst/>
              <a:rect r="r" b="b" t="t" l="l"/>
              <a:pathLst>
                <a:path h="1701348" w="1701348">
                  <a:moveTo>
                    <a:pt x="0" y="0"/>
                  </a:moveTo>
                  <a:lnTo>
                    <a:pt x="1701348" y="0"/>
                  </a:lnTo>
                  <a:lnTo>
                    <a:pt x="1701348" y="1701348"/>
                  </a:lnTo>
                  <a:lnTo>
                    <a:pt x="0" y="170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76673" y="176673"/>
              <a:ext cx="1348002" cy="1348002"/>
            </a:xfrm>
            <a:custGeom>
              <a:avLst/>
              <a:gdLst/>
              <a:ahLst/>
              <a:cxnLst/>
              <a:rect r="r" b="b" t="t" l="l"/>
              <a:pathLst>
                <a:path h="1348002" w="1348002">
                  <a:moveTo>
                    <a:pt x="0" y="0"/>
                  </a:moveTo>
                  <a:lnTo>
                    <a:pt x="1348002" y="0"/>
                  </a:lnTo>
                  <a:lnTo>
                    <a:pt x="1348002" y="1348002"/>
                  </a:lnTo>
                  <a:lnTo>
                    <a:pt x="0" y="1348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40088" y="477217"/>
              <a:ext cx="729259" cy="746913"/>
            </a:xfrm>
            <a:custGeom>
              <a:avLst/>
              <a:gdLst/>
              <a:ahLst/>
              <a:cxnLst/>
              <a:rect r="r" b="b" t="t" l="l"/>
              <a:pathLst>
                <a:path h="746913" w="729259">
                  <a:moveTo>
                    <a:pt x="0" y="0"/>
                  </a:moveTo>
                  <a:lnTo>
                    <a:pt x="729258" y="0"/>
                  </a:lnTo>
                  <a:lnTo>
                    <a:pt x="729258" y="746913"/>
                  </a:lnTo>
                  <a:lnTo>
                    <a:pt x="0" y="746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5009" y="689717"/>
            <a:ext cx="5641953" cy="161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5"/>
              </a:lnSpc>
            </a:pPr>
            <a:r>
              <a:rPr lang="en-US" sz="4926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AESTHETIC CONSIDERATIONS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34122" y="3200058"/>
            <a:ext cx="2722712" cy="8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6"/>
              </a:lnSpc>
              <a:spcBef>
                <a:spcPct val="0"/>
              </a:spcBef>
            </a:pPr>
            <a:r>
              <a:rPr lang="en-US" b="true" sz="231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Hexagonal Modular Design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34122" y="4796198"/>
            <a:ext cx="2722712" cy="8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6"/>
              </a:lnSpc>
              <a:spcBef>
                <a:spcPct val="0"/>
              </a:spcBef>
            </a:pPr>
            <a:r>
              <a:rPr lang="en-US" b="true" sz="231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Two Detachable Comaprtments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34122" y="6392339"/>
            <a:ext cx="2722712" cy="8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6"/>
              </a:lnSpc>
              <a:spcBef>
                <a:spcPct val="0"/>
              </a:spcBef>
            </a:pPr>
            <a:r>
              <a:rPr lang="en-US" b="true" sz="231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Mesh Openings For Airflow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34122" y="7988480"/>
            <a:ext cx="2722712" cy="8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6"/>
              </a:lnSpc>
              <a:spcBef>
                <a:spcPct val="0"/>
              </a:spcBef>
            </a:pPr>
            <a:r>
              <a:rPr lang="en-US" b="true" sz="231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Compact and Minimal Look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587975" y="-795486"/>
            <a:ext cx="14680241" cy="14680241"/>
          </a:xfrm>
          <a:custGeom>
            <a:avLst/>
            <a:gdLst/>
            <a:ahLst/>
            <a:cxnLst/>
            <a:rect r="r" b="b" t="t" l="l"/>
            <a:pathLst>
              <a:path h="14680241" w="14680241">
                <a:moveTo>
                  <a:pt x="0" y="0"/>
                </a:moveTo>
                <a:lnTo>
                  <a:pt x="14680240" y="0"/>
                </a:lnTo>
                <a:lnTo>
                  <a:pt x="14680240" y="14680240"/>
                </a:lnTo>
                <a:lnTo>
                  <a:pt x="0" y="1468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117202" y="691292"/>
            <a:ext cx="5641953" cy="161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4"/>
              </a:lnSpc>
            </a:pPr>
            <a:r>
              <a:rPr lang="en-US" b="true" sz="4926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MATERIAL SELECTION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659541" y="4129562"/>
            <a:ext cx="1276011" cy="1276011"/>
            <a:chOff x="0" y="0"/>
            <a:chExt cx="1701348" cy="17013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1348" cy="1701348"/>
            </a:xfrm>
            <a:custGeom>
              <a:avLst/>
              <a:gdLst/>
              <a:ahLst/>
              <a:cxnLst/>
              <a:rect r="r" b="b" t="t" l="l"/>
              <a:pathLst>
                <a:path h="1701348" w="1701348">
                  <a:moveTo>
                    <a:pt x="0" y="0"/>
                  </a:moveTo>
                  <a:lnTo>
                    <a:pt x="1701348" y="0"/>
                  </a:lnTo>
                  <a:lnTo>
                    <a:pt x="1701348" y="1701348"/>
                  </a:lnTo>
                  <a:lnTo>
                    <a:pt x="0" y="170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76673" y="176673"/>
              <a:ext cx="1348002" cy="1348002"/>
            </a:xfrm>
            <a:custGeom>
              <a:avLst/>
              <a:gdLst/>
              <a:ahLst/>
              <a:cxnLst/>
              <a:rect r="r" b="b" t="t" l="l"/>
              <a:pathLst>
                <a:path h="1348002" w="1348002">
                  <a:moveTo>
                    <a:pt x="0" y="0"/>
                  </a:moveTo>
                  <a:lnTo>
                    <a:pt x="1348002" y="0"/>
                  </a:lnTo>
                  <a:lnTo>
                    <a:pt x="1348002" y="1348002"/>
                  </a:lnTo>
                  <a:lnTo>
                    <a:pt x="0" y="1348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61902" y="499915"/>
              <a:ext cx="377544" cy="701517"/>
            </a:xfrm>
            <a:custGeom>
              <a:avLst/>
              <a:gdLst/>
              <a:ahLst/>
              <a:cxnLst/>
              <a:rect r="r" b="b" t="t" l="l"/>
              <a:pathLst>
                <a:path h="701517" w="377544">
                  <a:moveTo>
                    <a:pt x="0" y="0"/>
                  </a:moveTo>
                  <a:lnTo>
                    <a:pt x="377544" y="0"/>
                  </a:lnTo>
                  <a:lnTo>
                    <a:pt x="377544" y="701517"/>
                  </a:lnTo>
                  <a:lnTo>
                    <a:pt x="0" y="701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659541" y="5639700"/>
            <a:ext cx="1276011" cy="1276011"/>
            <a:chOff x="0" y="0"/>
            <a:chExt cx="1701348" cy="17013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1348" cy="1701348"/>
            </a:xfrm>
            <a:custGeom>
              <a:avLst/>
              <a:gdLst/>
              <a:ahLst/>
              <a:cxnLst/>
              <a:rect r="r" b="b" t="t" l="l"/>
              <a:pathLst>
                <a:path h="1701348" w="1701348">
                  <a:moveTo>
                    <a:pt x="0" y="0"/>
                  </a:moveTo>
                  <a:lnTo>
                    <a:pt x="1701348" y="0"/>
                  </a:lnTo>
                  <a:lnTo>
                    <a:pt x="1701348" y="1701348"/>
                  </a:lnTo>
                  <a:lnTo>
                    <a:pt x="0" y="170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76673" y="176673"/>
              <a:ext cx="1348002" cy="1348002"/>
            </a:xfrm>
            <a:custGeom>
              <a:avLst/>
              <a:gdLst/>
              <a:ahLst/>
              <a:cxnLst/>
              <a:rect r="r" b="b" t="t" l="l"/>
              <a:pathLst>
                <a:path h="1348002" w="1348002">
                  <a:moveTo>
                    <a:pt x="0" y="0"/>
                  </a:moveTo>
                  <a:lnTo>
                    <a:pt x="1348002" y="0"/>
                  </a:lnTo>
                  <a:lnTo>
                    <a:pt x="1348002" y="1348002"/>
                  </a:lnTo>
                  <a:lnTo>
                    <a:pt x="0" y="1348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29501" y="477217"/>
              <a:ext cx="642345" cy="746913"/>
            </a:xfrm>
            <a:custGeom>
              <a:avLst/>
              <a:gdLst/>
              <a:ahLst/>
              <a:cxnLst/>
              <a:rect r="r" b="b" t="t" l="l"/>
              <a:pathLst>
                <a:path h="746913" w="642345">
                  <a:moveTo>
                    <a:pt x="0" y="0"/>
                  </a:moveTo>
                  <a:lnTo>
                    <a:pt x="642345" y="0"/>
                  </a:lnTo>
                  <a:lnTo>
                    <a:pt x="642345" y="746913"/>
                  </a:lnTo>
                  <a:lnTo>
                    <a:pt x="0" y="746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59541" y="7149839"/>
            <a:ext cx="1276011" cy="1276011"/>
            <a:chOff x="0" y="0"/>
            <a:chExt cx="1701348" cy="17013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1348" cy="1701348"/>
            </a:xfrm>
            <a:custGeom>
              <a:avLst/>
              <a:gdLst/>
              <a:ahLst/>
              <a:cxnLst/>
              <a:rect r="r" b="b" t="t" l="l"/>
              <a:pathLst>
                <a:path h="1701348" w="1701348">
                  <a:moveTo>
                    <a:pt x="0" y="0"/>
                  </a:moveTo>
                  <a:lnTo>
                    <a:pt x="1701348" y="0"/>
                  </a:lnTo>
                  <a:lnTo>
                    <a:pt x="1701348" y="1701348"/>
                  </a:lnTo>
                  <a:lnTo>
                    <a:pt x="0" y="170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76673" y="176673"/>
              <a:ext cx="1348002" cy="1348002"/>
            </a:xfrm>
            <a:custGeom>
              <a:avLst/>
              <a:gdLst/>
              <a:ahLst/>
              <a:cxnLst/>
              <a:rect r="r" b="b" t="t" l="l"/>
              <a:pathLst>
                <a:path h="1348002" w="1348002">
                  <a:moveTo>
                    <a:pt x="0" y="0"/>
                  </a:moveTo>
                  <a:lnTo>
                    <a:pt x="1348002" y="0"/>
                  </a:lnTo>
                  <a:lnTo>
                    <a:pt x="1348002" y="1348002"/>
                  </a:lnTo>
                  <a:lnTo>
                    <a:pt x="0" y="1348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539008" y="477217"/>
              <a:ext cx="632839" cy="746913"/>
            </a:xfrm>
            <a:custGeom>
              <a:avLst/>
              <a:gdLst/>
              <a:ahLst/>
              <a:cxnLst/>
              <a:rect r="r" b="b" t="t" l="l"/>
              <a:pathLst>
                <a:path h="746913" w="632839">
                  <a:moveTo>
                    <a:pt x="0" y="0"/>
                  </a:moveTo>
                  <a:lnTo>
                    <a:pt x="632838" y="0"/>
                  </a:lnTo>
                  <a:lnTo>
                    <a:pt x="632838" y="746913"/>
                  </a:lnTo>
                  <a:lnTo>
                    <a:pt x="0" y="746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494105" y="4330198"/>
            <a:ext cx="2722712" cy="8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6"/>
              </a:lnSpc>
              <a:spcBef>
                <a:spcPct val="0"/>
              </a:spcBef>
            </a:pPr>
            <a:r>
              <a:rPr lang="en-US" b="true" sz="231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PLA (3D-Printed Casing)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94105" y="5721551"/>
            <a:ext cx="2722712" cy="122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6"/>
              </a:lnSpc>
              <a:spcBef>
                <a:spcPct val="0"/>
              </a:spcBef>
            </a:pPr>
            <a:r>
              <a:rPr lang="en-US" b="true" sz="231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Activated Charcoal (Odour Absorption)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94105" y="7112905"/>
            <a:ext cx="2722712" cy="163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6"/>
              </a:lnSpc>
              <a:spcBef>
                <a:spcPct val="0"/>
              </a:spcBef>
            </a:pPr>
            <a:r>
              <a:rPr lang="en-US" b="true" sz="2311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Electronics (Fan, Regulator, LED, Switches, Type-C module)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139886" y="-2862695"/>
            <a:ext cx="15978794" cy="15978794"/>
          </a:xfrm>
          <a:custGeom>
            <a:avLst/>
            <a:gdLst/>
            <a:ahLst/>
            <a:cxnLst/>
            <a:rect r="r" b="b" t="t" l="l"/>
            <a:pathLst>
              <a:path h="15978794" w="15978794">
                <a:moveTo>
                  <a:pt x="0" y="0"/>
                </a:moveTo>
                <a:lnTo>
                  <a:pt x="15978794" y="0"/>
                </a:lnTo>
                <a:lnTo>
                  <a:pt x="15978794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000" y="4518690"/>
            <a:ext cx="5927351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DESIGN PART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04780" y="2540122"/>
            <a:ext cx="5359067" cy="481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3D- Printed Casing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Two detachable compartments for easy replacement/maintenance</a:t>
            </a:r>
          </a:p>
          <a:p>
            <a:pPr algn="l">
              <a:lnSpc>
                <a:spcPts val="4759"/>
              </a:lnSpc>
            </a:pP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Structured Airflow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955337" y="1794546"/>
            <a:ext cx="2294700" cy="698432"/>
          </a:xfrm>
          <a:custGeom>
            <a:avLst/>
            <a:gdLst/>
            <a:ahLst/>
            <a:cxnLst/>
            <a:rect r="r" b="b" t="t" l="l"/>
            <a:pathLst>
              <a:path h="698432" w="2294700">
                <a:moveTo>
                  <a:pt x="0" y="0"/>
                </a:moveTo>
                <a:lnTo>
                  <a:pt x="2294700" y="0"/>
                </a:lnTo>
                <a:lnTo>
                  <a:pt x="2294700" y="698432"/>
                </a:lnTo>
                <a:lnTo>
                  <a:pt x="0" y="698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52" t="-50461" r="-15472" b="-4443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55337" y="2912960"/>
            <a:ext cx="2294700" cy="1802978"/>
          </a:xfrm>
          <a:custGeom>
            <a:avLst/>
            <a:gdLst/>
            <a:ahLst/>
            <a:cxnLst/>
            <a:rect r="r" b="b" t="t" l="l"/>
            <a:pathLst>
              <a:path h="1802978" w="2294700">
                <a:moveTo>
                  <a:pt x="0" y="0"/>
                </a:moveTo>
                <a:lnTo>
                  <a:pt x="2294700" y="0"/>
                </a:lnTo>
                <a:lnTo>
                  <a:pt x="2294700" y="1802978"/>
                </a:lnTo>
                <a:lnTo>
                  <a:pt x="0" y="1802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671" t="-8893" r="-9061" b="-79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59331" y="4830238"/>
            <a:ext cx="2390706" cy="828276"/>
          </a:xfrm>
          <a:custGeom>
            <a:avLst/>
            <a:gdLst/>
            <a:ahLst/>
            <a:cxnLst/>
            <a:rect r="r" b="b" t="t" l="l"/>
            <a:pathLst>
              <a:path h="828276" w="2390706">
                <a:moveTo>
                  <a:pt x="0" y="0"/>
                </a:moveTo>
                <a:lnTo>
                  <a:pt x="2390706" y="0"/>
                </a:lnTo>
                <a:lnTo>
                  <a:pt x="2390706" y="828277"/>
                </a:lnTo>
                <a:lnTo>
                  <a:pt x="0" y="828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93" t="-35813" r="-15588" b="-3193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55337" y="5770590"/>
            <a:ext cx="2159431" cy="1588547"/>
          </a:xfrm>
          <a:custGeom>
            <a:avLst/>
            <a:gdLst/>
            <a:ahLst/>
            <a:cxnLst/>
            <a:rect r="r" b="b" t="t" l="l"/>
            <a:pathLst>
              <a:path h="1588547" w="2159431">
                <a:moveTo>
                  <a:pt x="0" y="0"/>
                </a:moveTo>
                <a:lnTo>
                  <a:pt x="2159431" y="0"/>
                </a:lnTo>
                <a:lnTo>
                  <a:pt x="2159431" y="1588547"/>
                </a:lnTo>
                <a:lnTo>
                  <a:pt x="0" y="1588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015" t="-18669" r="-19540" b="-1500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45672" y="7678010"/>
            <a:ext cx="1978761" cy="755777"/>
          </a:xfrm>
          <a:custGeom>
            <a:avLst/>
            <a:gdLst/>
            <a:ahLst/>
            <a:cxnLst/>
            <a:rect r="r" b="b" t="t" l="l"/>
            <a:pathLst>
              <a:path h="755777" w="1978761">
                <a:moveTo>
                  <a:pt x="0" y="0"/>
                </a:moveTo>
                <a:lnTo>
                  <a:pt x="1978761" y="0"/>
                </a:lnTo>
                <a:lnTo>
                  <a:pt x="1978761" y="755777"/>
                </a:lnTo>
                <a:lnTo>
                  <a:pt x="0" y="755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768" t="-24353" r="-4983" b="-4145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492447" y="1996717"/>
            <a:ext cx="1242302" cy="6273460"/>
            <a:chOff x="0" y="0"/>
            <a:chExt cx="1656403" cy="8364613"/>
          </a:xfrm>
        </p:grpSpPr>
        <p:sp>
          <p:nvSpPr>
            <p:cNvPr name="AutoShape 11" id="11"/>
            <p:cNvSpPr/>
            <p:nvPr/>
          </p:nvSpPr>
          <p:spPr>
            <a:xfrm>
              <a:off x="1656403" y="38100"/>
              <a:ext cx="0" cy="8288413"/>
            </a:xfrm>
            <a:prstGeom prst="line">
              <a:avLst/>
            </a:prstGeom>
            <a:ln cap="flat" w="76200">
              <a:solidFill>
                <a:srgbClr val="00000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-5400000">
              <a:off x="-948210" y="6305898"/>
              <a:ext cx="2514699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Air Flow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40011" y="1996717"/>
            <a:ext cx="1214132" cy="6286716"/>
            <a:chOff x="0" y="0"/>
            <a:chExt cx="1618843" cy="8382288"/>
          </a:xfrm>
        </p:grpSpPr>
        <p:sp>
          <p:nvSpPr>
            <p:cNvPr name="AutoShape 14" id="14"/>
            <p:cNvSpPr/>
            <p:nvPr/>
          </p:nvSpPr>
          <p:spPr>
            <a:xfrm>
              <a:off x="38100" y="93875"/>
              <a:ext cx="0" cy="8288413"/>
            </a:xfrm>
            <a:prstGeom prst="line">
              <a:avLst/>
            </a:prstGeom>
            <a:ln cap="flat" w="762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15" id="15"/>
            <p:cNvSpPr txBox="true"/>
            <p:nvPr/>
          </p:nvSpPr>
          <p:spPr>
            <a:xfrm rot="5400000">
              <a:off x="52354" y="1299198"/>
              <a:ext cx="2514699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Air Flow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96844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5581" y="3658882"/>
            <a:ext cx="6170274" cy="2969237"/>
            <a:chOff x="0" y="0"/>
            <a:chExt cx="8227032" cy="395898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8227032" cy="3031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b="true" sz="6999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Optimization </a:t>
              </a:r>
              <a:r>
                <a:rPr lang="en-US" b="true" sz="69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Techniques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251380"/>
              <a:ext cx="783224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42665" y="1662831"/>
            <a:ext cx="2036720" cy="2036720"/>
            <a:chOff x="0" y="0"/>
            <a:chExt cx="2715627" cy="2715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5627" cy="2715627"/>
            </a:xfrm>
            <a:custGeom>
              <a:avLst/>
              <a:gdLst/>
              <a:ahLst/>
              <a:cxnLst/>
              <a:rect r="r" b="b" t="t" l="l"/>
              <a:pathLst>
                <a:path h="2715627" w="2715627">
                  <a:moveTo>
                    <a:pt x="0" y="0"/>
                  </a:moveTo>
                  <a:lnTo>
                    <a:pt x="2715627" y="0"/>
                  </a:lnTo>
                  <a:lnTo>
                    <a:pt x="2715627" y="2715627"/>
                  </a:lnTo>
                  <a:lnTo>
                    <a:pt x="0" y="271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81999" y="281999"/>
              <a:ext cx="2151630" cy="2151630"/>
            </a:xfrm>
            <a:custGeom>
              <a:avLst/>
              <a:gdLst/>
              <a:ahLst/>
              <a:cxnLst/>
              <a:rect r="r" b="b" t="t" l="l"/>
              <a:pathLst>
                <a:path h="2151630" w="2151630">
                  <a:moveTo>
                    <a:pt x="0" y="0"/>
                  </a:moveTo>
                  <a:lnTo>
                    <a:pt x="2151629" y="0"/>
                  </a:lnTo>
                  <a:lnTo>
                    <a:pt x="2151629" y="2151629"/>
                  </a:lnTo>
                  <a:lnTo>
                    <a:pt x="0" y="2151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056503" y="797946"/>
              <a:ext cx="602621" cy="1119735"/>
            </a:xfrm>
            <a:custGeom>
              <a:avLst/>
              <a:gdLst/>
              <a:ahLst/>
              <a:cxnLst/>
              <a:rect r="r" b="b" t="t" l="l"/>
              <a:pathLst>
                <a:path h="1119735" w="602621">
                  <a:moveTo>
                    <a:pt x="0" y="0"/>
                  </a:moveTo>
                  <a:lnTo>
                    <a:pt x="602621" y="0"/>
                  </a:lnTo>
                  <a:lnTo>
                    <a:pt x="602621" y="1119735"/>
                  </a:lnTo>
                  <a:lnTo>
                    <a:pt x="0" y="111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42665" y="4073257"/>
            <a:ext cx="2036720" cy="2036720"/>
            <a:chOff x="0" y="0"/>
            <a:chExt cx="2715627" cy="2715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15627" cy="2715627"/>
            </a:xfrm>
            <a:custGeom>
              <a:avLst/>
              <a:gdLst/>
              <a:ahLst/>
              <a:cxnLst/>
              <a:rect r="r" b="b" t="t" l="l"/>
              <a:pathLst>
                <a:path h="2715627" w="2715627">
                  <a:moveTo>
                    <a:pt x="0" y="0"/>
                  </a:moveTo>
                  <a:lnTo>
                    <a:pt x="2715627" y="0"/>
                  </a:lnTo>
                  <a:lnTo>
                    <a:pt x="2715627" y="2715627"/>
                  </a:lnTo>
                  <a:lnTo>
                    <a:pt x="0" y="271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81999" y="281999"/>
              <a:ext cx="2151630" cy="2151630"/>
            </a:xfrm>
            <a:custGeom>
              <a:avLst/>
              <a:gdLst/>
              <a:ahLst/>
              <a:cxnLst/>
              <a:rect r="r" b="b" t="t" l="l"/>
              <a:pathLst>
                <a:path h="2151630" w="2151630">
                  <a:moveTo>
                    <a:pt x="0" y="0"/>
                  </a:moveTo>
                  <a:lnTo>
                    <a:pt x="2151629" y="0"/>
                  </a:lnTo>
                  <a:lnTo>
                    <a:pt x="2151629" y="2151629"/>
                  </a:lnTo>
                  <a:lnTo>
                    <a:pt x="0" y="2151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45170" y="761717"/>
              <a:ext cx="1025287" cy="1192194"/>
            </a:xfrm>
            <a:custGeom>
              <a:avLst/>
              <a:gdLst/>
              <a:ahLst/>
              <a:cxnLst/>
              <a:rect r="r" b="b" t="t" l="l"/>
              <a:pathLst>
                <a:path h="1192194" w="1025287">
                  <a:moveTo>
                    <a:pt x="0" y="0"/>
                  </a:moveTo>
                  <a:lnTo>
                    <a:pt x="1025287" y="0"/>
                  </a:lnTo>
                  <a:lnTo>
                    <a:pt x="1025287" y="1192194"/>
                  </a:lnTo>
                  <a:lnTo>
                    <a:pt x="0" y="1192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42665" y="6483683"/>
            <a:ext cx="2036720" cy="2036720"/>
            <a:chOff x="0" y="0"/>
            <a:chExt cx="2715627" cy="2715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15627" cy="2715627"/>
            </a:xfrm>
            <a:custGeom>
              <a:avLst/>
              <a:gdLst/>
              <a:ahLst/>
              <a:cxnLst/>
              <a:rect r="r" b="b" t="t" l="l"/>
              <a:pathLst>
                <a:path h="2715627" w="2715627">
                  <a:moveTo>
                    <a:pt x="0" y="0"/>
                  </a:moveTo>
                  <a:lnTo>
                    <a:pt x="2715627" y="0"/>
                  </a:lnTo>
                  <a:lnTo>
                    <a:pt x="2715627" y="2715627"/>
                  </a:lnTo>
                  <a:lnTo>
                    <a:pt x="0" y="271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44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81999" y="281999"/>
              <a:ext cx="2151630" cy="2151630"/>
            </a:xfrm>
            <a:custGeom>
              <a:avLst/>
              <a:gdLst/>
              <a:ahLst/>
              <a:cxnLst/>
              <a:rect r="r" b="b" t="t" l="l"/>
              <a:pathLst>
                <a:path h="2151630" w="2151630">
                  <a:moveTo>
                    <a:pt x="0" y="0"/>
                  </a:moveTo>
                  <a:lnTo>
                    <a:pt x="2151629" y="0"/>
                  </a:lnTo>
                  <a:lnTo>
                    <a:pt x="2151629" y="2151629"/>
                  </a:lnTo>
                  <a:lnTo>
                    <a:pt x="0" y="2151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860343" y="761717"/>
              <a:ext cx="1010114" cy="1192194"/>
            </a:xfrm>
            <a:custGeom>
              <a:avLst/>
              <a:gdLst/>
              <a:ahLst/>
              <a:cxnLst/>
              <a:rect r="r" b="b" t="t" l="l"/>
              <a:pathLst>
                <a:path h="1192194" w="1010114">
                  <a:moveTo>
                    <a:pt x="0" y="0"/>
                  </a:moveTo>
                  <a:lnTo>
                    <a:pt x="1010114" y="0"/>
                  </a:lnTo>
                  <a:lnTo>
                    <a:pt x="1010114" y="1192194"/>
                  </a:lnTo>
                  <a:lnTo>
                    <a:pt x="0" y="1192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870926" y="1988574"/>
            <a:ext cx="4345891" cy="129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5"/>
              </a:lnSpc>
              <a:spcBef>
                <a:spcPct val="0"/>
              </a:spcBef>
            </a:pPr>
            <a:r>
              <a:rPr lang="en-US" b="true" sz="368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Compact Layout of Electronics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70926" y="4209400"/>
            <a:ext cx="4345891" cy="195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5"/>
              </a:lnSpc>
              <a:spcBef>
                <a:spcPct val="0"/>
              </a:spcBef>
            </a:pPr>
            <a:r>
              <a:rPr lang="en-US" b="true" sz="368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Modular compartments for easy upgrades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70926" y="6757100"/>
            <a:ext cx="4345891" cy="195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5"/>
              </a:lnSpc>
              <a:spcBef>
                <a:spcPct val="0"/>
              </a:spcBef>
            </a:pPr>
            <a:r>
              <a:rPr lang="en-US" b="true" sz="368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Fan and mesh for efficient airflow circulation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051389" cy="10295868"/>
            <a:chOff x="0" y="0"/>
            <a:chExt cx="1857156" cy="2711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7156" cy="2711669"/>
            </a:xfrm>
            <a:custGeom>
              <a:avLst/>
              <a:gdLst/>
              <a:ahLst/>
              <a:cxnLst/>
              <a:rect r="r" b="b" t="t" l="l"/>
              <a:pathLst>
                <a:path h="2711669" w="1857156">
                  <a:moveTo>
                    <a:pt x="0" y="0"/>
                  </a:moveTo>
                  <a:lnTo>
                    <a:pt x="1857156" y="0"/>
                  </a:lnTo>
                  <a:lnTo>
                    <a:pt x="185715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7156" cy="274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289425"/>
            <a:ext cx="5097869" cy="82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RENARD SERIES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76226" y="1917531"/>
            <a:ext cx="9983074" cy="641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b="true" sz="39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What it is ? : Standardized series for product dimensions &amp; ratings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b="true" sz="39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Common Sets: R5, R10, R20 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b="true" sz="39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Fan Diameter in Series: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b="true" sz="39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R10: 63, 80, 100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b="true" sz="39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Conclusion: 80mm is a preferred size → good for manufacturing &amp; scaling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67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652770"/>
            <a:ext cx="7470040" cy="459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Sidal’s Classification of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Design Approach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42260" y="4219509"/>
            <a:ext cx="7539863" cy="848360"/>
            <a:chOff x="0" y="0"/>
            <a:chExt cx="10053151" cy="1131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30480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Adaptive Design : Uses existing components(fans,regulators)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2260" y="6022749"/>
            <a:ext cx="7539863" cy="848360"/>
            <a:chOff x="0" y="0"/>
            <a:chExt cx="10053151" cy="11311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Variant Design : Hexagon modular casing for customization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2260" y="7825990"/>
            <a:ext cx="7539863" cy="848360"/>
            <a:chOff x="0" y="0"/>
            <a:chExt cx="10053151" cy="11311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Original Design : Unique integration of charcoal + electronics airflow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2325"/>
            <a:chOff x="0" y="0"/>
            <a:chExt cx="4816593" cy="551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51065"/>
            </a:xfrm>
            <a:custGeom>
              <a:avLst/>
              <a:gdLst/>
              <a:ahLst/>
              <a:cxnLst/>
              <a:rect r="r" b="b" t="t" l="l"/>
              <a:pathLst>
                <a:path h="55106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51065"/>
                  </a:lnTo>
                  <a:lnTo>
                    <a:pt x="0" y="55106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89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5049" y="2330695"/>
            <a:ext cx="4363781" cy="640694"/>
            <a:chOff x="0" y="0"/>
            <a:chExt cx="1149309" cy="168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CONCEPT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48268" y="571500"/>
            <a:ext cx="13991465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STRATEGIES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01194" y="2330695"/>
            <a:ext cx="11881757" cy="640694"/>
            <a:chOff x="0" y="0"/>
            <a:chExt cx="3129352" cy="1687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Identifying Problem : Shoe Odour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5049" y="3296156"/>
            <a:ext cx="4363781" cy="640694"/>
            <a:chOff x="0" y="0"/>
            <a:chExt cx="1149309" cy="1687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FEASIBILITY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01194" y="3296156"/>
            <a:ext cx="11881757" cy="640694"/>
            <a:chOff x="0" y="0"/>
            <a:chExt cx="3129352" cy="1687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CAD Design Airflow and Power check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5049" y="4261616"/>
            <a:ext cx="4363781" cy="640694"/>
            <a:chOff x="0" y="0"/>
            <a:chExt cx="1149309" cy="1687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PROTOTYPE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01194" y="4261616"/>
            <a:ext cx="11881757" cy="640694"/>
            <a:chOff x="0" y="0"/>
            <a:chExt cx="3129352" cy="1687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3D Print Casing + 80mm Fan + Charcoal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05049" y="5227077"/>
            <a:ext cx="4363781" cy="640694"/>
            <a:chOff x="0" y="0"/>
            <a:chExt cx="1149309" cy="1687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TESTING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701194" y="5227077"/>
            <a:ext cx="11881757" cy="640694"/>
            <a:chOff x="0" y="0"/>
            <a:chExt cx="3129352" cy="1687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Odour reduction, Airflow, Noise and Durability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5049" y="6192538"/>
            <a:ext cx="4363781" cy="640694"/>
            <a:chOff x="0" y="0"/>
            <a:chExt cx="1149309" cy="16874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ITERATION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01194" y="6192538"/>
            <a:ext cx="11881757" cy="640694"/>
            <a:chOff x="0" y="0"/>
            <a:chExt cx="3129352" cy="1687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Improve airflow path and filter usability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05049" y="7157999"/>
            <a:ext cx="4363781" cy="640694"/>
            <a:chOff x="0" y="0"/>
            <a:chExt cx="1149309" cy="1687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PILOT PRODUCTION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701194" y="7157999"/>
            <a:ext cx="11881757" cy="640694"/>
            <a:chOff x="0" y="0"/>
            <a:chExt cx="3129352" cy="1687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Small-batch runs, collects user feedbacks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05049" y="8123459"/>
            <a:ext cx="4363781" cy="640694"/>
            <a:chOff x="0" y="0"/>
            <a:chExt cx="1149309" cy="1687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MASS PRODUCTION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701194" y="8123459"/>
            <a:ext cx="11881757" cy="640694"/>
            <a:chOff x="0" y="0"/>
            <a:chExt cx="3129352" cy="1687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Injection moulding, standard fan/filter supply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05049" y="9088920"/>
            <a:ext cx="4363781" cy="640694"/>
            <a:chOff x="0" y="0"/>
            <a:chExt cx="1149309" cy="1687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49309" cy="168742"/>
            </a:xfrm>
            <a:custGeom>
              <a:avLst/>
              <a:gdLst/>
              <a:ahLst/>
              <a:cxnLst/>
              <a:rect r="r" b="b" t="t" l="l"/>
              <a:pathLst>
                <a:path h="168742" w="1149309">
                  <a:moveTo>
                    <a:pt x="0" y="0"/>
                  </a:moveTo>
                  <a:lnTo>
                    <a:pt x="1149309" y="0"/>
                  </a:lnTo>
                  <a:lnTo>
                    <a:pt x="1149309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149309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ROLLOUT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701194" y="9088920"/>
            <a:ext cx="11881757" cy="640694"/>
            <a:chOff x="0" y="0"/>
            <a:chExt cx="3129352" cy="1687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29352" cy="168742"/>
            </a:xfrm>
            <a:custGeom>
              <a:avLst/>
              <a:gdLst/>
              <a:ahLst/>
              <a:cxnLst/>
              <a:rect r="r" b="b" t="t" l="l"/>
              <a:pathLst>
                <a:path h="168742" w="3129352">
                  <a:moveTo>
                    <a:pt x="0" y="0"/>
                  </a:moveTo>
                  <a:lnTo>
                    <a:pt x="3129352" y="0"/>
                  </a:lnTo>
                  <a:lnTo>
                    <a:pt x="3129352" y="168742"/>
                  </a:lnTo>
                  <a:lnTo>
                    <a:pt x="0" y="168742"/>
                  </a:lnTo>
                  <a:close/>
                </a:path>
              </a:pathLst>
            </a:custGeom>
            <a:solidFill>
              <a:srgbClr val="C9DFFA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3129352" cy="225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Market as compact shoe deodoriser with refill packs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19223" y="950912"/>
            <a:ext cx="13049553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Cost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Calculation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125919"/>
            <a:ext cx="18288000" cy="1161081"/>
            <a:chOff x="0" y="0"/>
            <a:chExt cx="4816593" cy="305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05799"/>
            </a:xfrm>
            <a:custGeom>
              <a:avLst/>
              <a:gdLst/>
              <a:ahLst/>
              <a:cxnLst/>
              <a:rect r="r" b="b" t="t" l="l"/>
              <a:pathLst>
                <a:path h="30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0186" y="9488020"/>
            <a:ext cx="16587629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Miscellaneous* - This includes packaging, marketing and transport charges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295015"/>
            <a:ext cx="3874907" cy="2653665"/>
            <a:chOff x="0" y="0"/>
            <a:chExt cx="5166543" cy="35382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166543" cy="1810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b="true" sz="2599" u="sng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Cost Per Unit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Rs. 920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49924"/>
              <a:ext cx="5166543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3D Printing = 600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Electronics = 320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53267" y="3295015"/>
            <a:ext cx="3876904" cy="2653665"/>
            <a:chOff x="0" y="0"/>
            <a:chExt cx="5169205" cy="35382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166543" cy="1810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b="true" sz="2599" u="sng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Selling Price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Rs. 1799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662" y="2349924"/>
              <a:ext cx="5166543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Miscellaneous* = 579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Profit(40%) = 488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79830" y="3295015"/>
            <a:ext cx="4754903" cy="4939665"/>
            <a:chOff x="0" y="0"/>
            <a:chExt cx="6339871" cy="65862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6339871" cy="1810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b="true" sz="2599" u="sng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Mass Production Price Target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Rs. 1199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8132" y="2349924"/>
              <a:ext cx="6043608" cy="4236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Casing = 120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Electronics = 260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Assembly &amp; Packaging= 120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Marketing = 75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Distribution = 120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Warranty/Service = 100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Profit Margin(50%) = 405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84393" y="3295015"/>
            <a:ext cx="3874907" cy="2201228"/>
            <a:chOff x="0" y="0"/>
            <a:chExt cx="5166543" cy="293497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5166543" cy="1810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b="true" sz="2599" u="sng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Expected Sales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200 - 500 Units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88815" y="2356274"/>
              <a:ext cx="4843081" cy="578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Pilot Phase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67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838474"/>
            <a:ext cx="7470040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Value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Engineering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42260" y="4448109"/>
            <a:ext cx="7539863" cy="414910"/>
            <a:chOff x="0" y="0"/>
            <a:chExt cx="10053151" cy="5532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14169" y="-57150"/>
              <a:ext cx="8738982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High performance at low cost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2260" y="6239475"/>
            <a:ext cx="7539863" cy="414910"/>
            <a:chOff x="0" y="0"/>
            <a:chExt cx="10053151" cy="5532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4169" y="-41317"/>
              <a:ext cx="8738982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Modular design reduces replacement costs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2260" y="7825990"/>
            <a:ext cx="7539863" cy="848360"/>
            <a:chOff x="0" y="0"/>
            <a:chExt cx="10053151" cy="11311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Charcoal pouch replacement is cheaper than full device replace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67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838474"/>
            <a:ext cx="7470040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Economic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Factors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42260" y="4219509"/>
            <a:ext cx="7539863" cy="848360"/>
            <a:chOff x="0" y="0"/>
            <a:chExt cx="10053151" cy="1131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30480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3D printing suitable for prototyping and low volumes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2260" y="6022749"/>
            <a:ext cx="7539863" cy="848360"/>
            <a:chOff x="0" y="0"/>
            <a:chExt cx="10053151" cy="11311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Injection moulding for scaling reduces unit cost significantly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2260" y="7825990"/>
            <a:ext cx="7539863" cy="848360"/>
            <a:chOff x="0" y="0"/>
            <a:chExt cx="10053151" cy="11311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Affordable for households and small commercial use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411059" cy="10287000"/>
            <a:chOff x="0" y="0"/>
            <a:chExt cx="24786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8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786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93288" y="-1453288"/>
            <a:ext cx="19274575" cy="3803384"/>
          </a:xfrm>
          <a:custGeom>
            <a:avLst/>
            <a:gdLst/>
            <a:ahLst/>
            <a:cxnLst/>
            <a:rect r="r" b="b" t="t" l="l"/>
            <a:pathLst>
              <a:path h="3803384" w="19274575">
                <a:moveTo>
                  <a:pt x="0" y="0"/>
                </a:moveTo>
                <a:lnTo>
                  <a:pt x="19274576" y="0"/>
                </a:lnTo>
                <a:lnTo>
                  <a:pt x="19274576" y="3803384"/>
                </a:lnTo>
                <a:lnTo>
                  <a:pt x="0" y="380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2950" y="665162"/>
            <a:ext cx="16831060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HYPOTHESIS ON MONEY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9295" y="2512427"/>
            <a:ext cx="8132469" cy="665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Initial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se(0-6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Months)​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Outflow:​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R&amp;D (CAD mode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ng, pro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b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uild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ng, CFD simula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ions)​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Tooling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&amp; 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lds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injection molding​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Small-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atch pr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uction (50–100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s) → high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cost per unit​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Marketing setup (branding, packaging, digital campaigns)​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Inflow: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Minimal (limited pilo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sales, early adopters, crowdfunding backers)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7090" y="2512427"/>
            <a:ext cx="8132469" cy="760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Phase(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Months)​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Outflow:​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ling production to 5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0–1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00 units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 batch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 cost per unit​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nsion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rib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 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e-ups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e-commerce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tforms)​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 servi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&amp; w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rra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Inflow: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Steady sales via online platforms &amp; early partnerships​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Potential B2B deals (spor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clubs, gyms, hostels, defense camps, shoe brands)​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Consumables/add-ons (activated carbon filters, UV cartridge replacement)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411059" cy="10287000"/>
            <a:chOff x="0" y="0"/>
            <a:chExt cx="24786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8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786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93288" y="-1453288"/>
            <a:ext cx="19274575" cy="3803384"/>
          </a:xfrm>
          <a:custGeom>
            <a:avLst/>
            <a:gdLst/>
            <a:ahLst/>
            <a:cxnLst/>
            <a:rect r="r" b="b" t="t" l="l"/>
            <a:pathLst>
              <a:path h="3803384" w="19274575">
                <a:moveTo>
                  <a:pt x="0" y="0"/>
                </a:moveTo>
                <a:lnTo>
                  <a:pt x="19274576" y="0"/>
                </a:lnTo>
                <a:lnTo>
                  <a:pt x="19274576" y="3803384"/>
                </a:lnTo>
                <a:lnTo>
                  <a:pt x="0" y="380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2950" y="665162"/>
            <a:ext cx="16831060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HYPOTHESIS ON MONEY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9295" y="2512427"/>
            <a:ext cx="8132469" cy="760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Expansion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Phase(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 Months)​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Outflow:​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iversification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premium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models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 UV/Io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ation)​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expans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(exports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anchise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e-ups)​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 scale-up f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 visibi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>
              <a:lnSpc>
                <a:spcPts val="3777"/>
              </a:lnSpc>
              <a:spcBef>
                <a:spcPct val="0"/>
              </a:spcBef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ow:​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rge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 sales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(5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,00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0–1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0,0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00 units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/year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rring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onsum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bles (f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lters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eodor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rtr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s)​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Lice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sing/partnerships wi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shoe brands for co-branded products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7090" y="2512427"/>
            <a:ext cx="8132469" cy="760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Sustained</a:t>
            </a: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Phase (Beyond 3 Years)​</a:t>
            </a: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Outflow:​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intenance of supp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ly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ch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&amp; customer su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tal pro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upg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>
              <a:lnSpc>
                <a:spcPts val="37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Inflow:​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blishe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nsu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Bulk 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tution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(sc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ls, hotels,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ital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s,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milit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ry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)​</a:t>
            </a:r>
          </a:p>
          <a:p>
            <a:pPr algn="l" marL="582567" indent="-291284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adj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rke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(bag 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orizers,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reshen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ers,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rt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abl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urifi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rs</a:t>
            </a:r>
            <a:r>
              <a:rPr lang="en-US" sz="269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>
              <a:lnSpc>
                <a:spcPts val="37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67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838474"/>
            <a:ext cx="7470040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Steps for </a:t>
            </a:r>
          </a:p>
          <a:p>
            <a:pPr algn="l">
              <a:lnSpc>
                <a:spcPts val="9099"/>
              </a:lnSpc>
            </a:pP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Cost Reduction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42260" y="4219509"/>
            <a:ext cx="7539863" cy="848360"/>
            <a:chOff x="0" y="0"/>
            <a:chExt cx="10053151" cy="1131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30480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Switching from 3D printing to industrial molding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2260" y="6239475"/>
            <a:ext cx="7539863" cy="414910"/>
            <a:chOff x="0" y="0"/>
            <a:chExt cx="10053151" cy="5532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4169" y="-41317"/>
              <a:ext cx="8738982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Source electronics in bulk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2260" y="7825990"/>
            <a:ext cx="7539863" cy="848360"/>
            <a:chOff x="0" y="0"/>
            <a:chExt cx="10053151" cy="11311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Simplify assembly with snap-fit, sturdy design instead of screws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633851" y="3019234"/>
          <a:ext cx="7625449" cy="7090696"/>
        </p:xfrm>
        <a:graphic>
          <a:graphicData uri="http://schemas.openxmlformats.org/drawingml/2006/table">
            <a:tbl>
              <a:tblPr/>
              <a:tblGrid>
                <a:gridCol w="7625449"/>
              </a:tblGrid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OVERALL COORDINATION AND ELECTRONICS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CAD MODELLING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DOCUMENTATION AND OPTIMIZATION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PROCUREMENT AND ASSEMBLY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 3D PRINTING AND FABRICATION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3019234"/>
          <a:ext cx="7199910" cy="7090696"/>
        </p:xfrm>
        <a:graphic>
          <a:graphicData uri="http://schemas.openxmlformats.org/drawingml/2006/table">
            <a:tbl>
              <a:tblPr/>
              <a:tblGrid>
                <a:gridCol w="778904"/>
                <a:gridCol w="6421006"/>
              </a:tblGrid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THIRUPPATHI 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SAMUEL SEBASTIAN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JITHIN BOJ 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TOBIN THOMAS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JOEL MATHEW JENI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18288000" cy="2826766"/>
            <a:chOff x="0" y="0"/>
            <a:chExt cx="4816593" cy="7444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744498"/>
            </a:xfrm>
            <a:custGeom>
              <a:avLst/>
              <a:gdLst/>
              <a:ahLst/>
              <a:cxnLst/>
              <a:rect r="r" b="b" t="t" l="l"/>
              <a:pathLst>
                <a:path h="74449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44498"/>
                  </a:lnTo>
                  <a:lnTo>
                    <a:pt x="0" y="74449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782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48268" y="952500"/>
            <a:ext cx="13991465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Team Contribution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9504" y="3803120"/>
            <a:ext cx="9759796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9"/>
              </a:lnSpc>
            </a:pPr>
            <a:r>
              <a:rPr lang="en-US" sz="11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DAGzJ_NWDhI</dc:identifier>
  <dcterms:modified xsi:type="dcterms:W3CDTF">2011-08-01T06:04:30Z</dcterms:modified>
  <cp:revision>1</cp:revision>
  <dc:title>Company Profile Presentation</dc:title>
</cp:coreProperties>
</file>